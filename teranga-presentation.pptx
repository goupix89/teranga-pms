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teranga-pm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800" kern="0" dirty="0">
                <a:solidFill>
                  <a:srgbClr val="D4A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TERANGA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L'hospitalité connectée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2286000" cy="3657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9260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9C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SaaS de gestion hôtelière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9C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conçue pour l'Afrique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0"/>
            <a:ext cx="1371600" cy="1371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8C3A30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46177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www.teranga-pms.com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défi de l'hôtellerie africaine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4630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651760" y="1554480"/>
            <a:ext cx="27432" cy="640080"/>
          </a:xfrm>
          <a:prstGeom prst="rect">
            <a:avLst/>
          </a:prstGeom>
          <a:solidFill>
            <a:srgbClr val="D4A857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0" y="14630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hôtels africains gèrent encore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réservations sur papier ou Excel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6517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45%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2651760" y="2743200"/>
            <a:ext cx="27432" cy="640080"/>
          </a:xfrm>
          <a:prstGeom prst="rect">
            <a:avLst/>
          </a:prstGeom>
          <a:solidFill>
            <a:srgbClr val="D4A857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26517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perte de revenus estimée à cause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doubles réservations et erreurs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8404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2651760" y="3931920"/>
            <a:ext cx="27432" cy="640080"/>
          </a:xfrm>
          <a:prstGeom prst="rect">
            <a:avLst/>
          </a:prstGeom>
          <a:solidFill>
            <a:srgbClr val="D4A857"/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0" y="38404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abordable conçue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spécifiquement pour le marché africain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2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Teranga — Votre solution complète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C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tout-en-un qui centralise la gestion de votre hôtel,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C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réservation au check-out, en passant par le bar et le restaurant.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828800" cy="128016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6" name="Shape 4"/>
          <p:cNvSpPr/>
          <p:nvPr/>
        </p:nvSpPr>
        <p:spPr>
          <a:xfrm>
            <a:off x="1325880" y="196596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21259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651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Chambres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28346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788920" y="1828800"/>
            <a:ext cx="1828800" cy="128016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1" name="Shape 8"/>
          <p:cNvSpPr/>
          <p:nvPr/>
        </p:nvSpPr>
        <p:spPr>
          <a:xfrm>
            <a:off x="3383280" y="196596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0" y="212598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88920" y="2651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788920" y="28346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Anti-double booking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846320" y="1828800"/>
            <a:ext cx="1828800" cy="128016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6" name="Shape 12"/>
          <p:cNvSpPr/>
          <p:nvPr/>
        </p:nvSpPr>
        <p:spPr>
          <a:xfrm>
            <a:off x="5440680" y="196596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0" y="212598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46320" y="2651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Facturation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846320" y="28346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Numérotation auto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6903720" y="1828800"/>
            <a:ext cx="1828800" cy="128016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21" name="Shape 16"/>
          <p:cNvSpPr/>
          <p:nvPr/>
        </p:nvSpPr>
        <p:spPr>
          <a:xfrm>
            <a:off x="7498080" y="196596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0" y="212598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03720" y="2651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903720" y="28346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Multi-méthodes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731520" y="3383280"/>
            <a:ext cx="1828800" cy="128016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26" name="Shape 20"/>
          <p:cNvSpPr/>
          <p:nvPr/>
        </p:nvSpPr>
        <p:spPr>
          <a:xfrm>
            <a:off x="1325880" y="352044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368046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31520" y="4206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731520" y="43891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automatiques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2788920" y="3383280"/>
            <a:ext cx="1828800" cy="128016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31" name="Shape 24"/>
          <p:cNvSpPr/>
          <p:nvPr/>
        </p:nvSpPr>
        <p:spPr>
          <a:xfrm>
            <a:off x="3383280" y="352044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3300" y="3680460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2788920" y="4206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Fournisseurs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2788920" y="43891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complet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4846320" y="3383280"/>
            <a:ext cx="1828800" cy="128016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36" name="Shape 28"/>
          <p:cNvSpPr/>
          <p:nvPr/>
        </p:nvSpPr>
        <p:spPr>
          <a:xfrm>
            <a:off x="5440680" y="352044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0700" y="3680460"/>
            <a:ext cx="320040" cy="32004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4846320" y="4206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4846320" y="43891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&amp; droits</a:t>
            </a:r>
            <a:endParaRPr lang="en-US" sz="900" dirty="0"/>
          </a:p>
        </p:txBody>
      </p:sp>
      <p:sp>
        <p:nvSpPr>
          <p:cNvPr id="40" name="Shape 31"/>
          <p:cNvSpPr/>
          <p:nvPr/>
        </p:nvSpPr>
        <p:spPr>
          <a:xfrm>
            <a:off x="6903720" y="3383280"/>
            <a:ext cx="1828800" cy="128016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41" name="Shape 32"/>
          <p:cNvSpPr/>
          <p:nvPr/>
        </p:nvSpPr>
        <p:spPr>
          <a:xfrm>
            <a:off x="7498080" y="352044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58100" y="3680460"/>
            <a:ext cx="320040" cy="32004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6903720" y="4206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POS</a:t>
            </a:r>
            <a:endParaRPr lang="en-US" sz="1200" dirty="0"/>
          </a:p>
        </p:txBody>
      </p:sp>
      <p:sp>
        <p:nvSpPr>
          <p:cNvPr id="44" name="Text 34"/>
          <p:cNvSpPr/>
          <p:nvPr/>
        </p:nvSpPr>
        <p:spPr>
          <a:xfrm>
            <a:off x="6903720" y="43891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natif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Fonctionnalités phares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80160"/>
            <a:ext cx="73152" cy="15544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17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Multi-tenant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hôtel isolé. Vos données ne se mélangent jamais avec celles des autres. Sécurité de niveau bancaire.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28016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280160"/>
            <a:ext cx="73152" cy="155448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417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Offline-first POS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0640" y="18288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 Android fonctionne même sans internet. Les transactions se synchronisent automatiquement dès le retour de la connexion.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108960"/>
            <a:ext cx="73152" cy="1554480"/>
          </a:xfrm>
          <a:prstGeom prst="rect">
            <a:avLst/>
          </a:prstGeom>
          <a:solidFill>
            <a:srgbClr val="D4A857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246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Channel Manager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36576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Connectez Booking.com, Expedia, Airbnb. Recevez les réservations automatiquement via l'API iCal et JSON.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310896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3108960"/>
            <a:ext cx="73152" cy="1554480"/>
          </a:xfrm>
          <a:prstGeom prst="rect">
            <a:avLst/>
          </a:prstGeom>
          <a:solidFill>
            <a:srgbClr val="8C3A30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3246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Money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20640" y="36576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natif de TMoney, Flooz, et Mobile Money. Vos clients paient comme ils en ont l'habitude.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2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Sécurité de niveau entreprise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886200" y="1188720"/>
            <a:ext cx="1371600" cy="1371600"/>
          </a:xfrm>
          <a:prstGeom prst="ellipse">
            <a:avLst/>
          </a:prstGeom>
          <a:solidFill>
            <a:srgbClr val="8C3A3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9100" y="1531620"/>
            <a:ext cx="685800" cy="6858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7180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728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JWT double token</a:t>
            </a:r>
            <a:endParaRPr lang="en-US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429000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9728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des données au repos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86200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9728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complète par tenant (RLS)</a:t>
            </a:r>
            <a:endParaRPr lang="en-US" sz="12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343400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97280" y="4297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d'accès par rôles (RBAC)</a:t>
            </a:r>
            <a:endParaRPr lang="en-US" sz="12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971800"/>
            <a:ext cx="228600" cy="2286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39496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anti-double booking</a:t>
            </a:r>
            <a:endParaRPr lang="en-US" sz="12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3429000"/>
            <a:ext cx="228600" cy="22860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539496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Idempotence des transactions POS</a:t>
            </a:r>
            <a:endParaRPr lang="en-US" sz="120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3886200"/>
            <a:ext cx="228600" cy="22860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539496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par IP et par tenant</a:t>
            </a:r>
            <a:endParaRPr lang="en-US" sz="1200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4343400"/>
            <a:ext cx="228600" cy="228600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5394960" y="4297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sur toutes les actions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Tarifs accessibles pour l'Afrique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jours d'essai gratuit — Aucune carte bancaire requise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15 000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XOF / mois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chambres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établissement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utilisateurs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371600"/>
            <a:ext cx="2560320" cy="3383280"/>
          </a:xfrm>
          <a:prstGeom prst="rect">
            <a:avLst/>
          </a:prstGeom>
          <a:solidFill>
            <a:srgbClr val="B85042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023360" y="1234440"/>
            <a:ext cx="1280160" cy="274320"/>
          </a:xfrm>
          <a:prstGeom prst="rect">
            <a:avLst/>
          </a:prstGeom>
          <a:solidFill>
            <a:srgbClr val="D4A857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0" y="12344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POPULAIRE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383280" y="1965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45 000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383280" y="2377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XOF / mois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0" y="2834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chambres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0" y="3246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établissements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0" y="3657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utilisateurs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0" y="4069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+ POS + Channel Manager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1371600"/>
            <a:ext cx="25603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1792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217920" y="1965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120 000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217920" y="2377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XOF / mois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92240" y="2834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Illimité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3246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Illimité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3657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Illimité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4069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prioritaire 24/7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Prêt à transformer</a:t>
            </a:r>
            <a:endParaRPr lang="en-US" sz="4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votre hôtel 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71600" y="23774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Rejoignez les hôteliers africains qui modernisent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leur gestion avec Teranga.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926080" y="3291840"/>
            <a:ext cx="3291840" cy="640080"/>
          </a:xfrm>
          <a:prstGeom prst="rect">
            <a:avLst/>
          </a:prstGeom>
          <a:solidFill>
            <a:srgbClr val="D4A857"/>
          </a:solidFill>
          <a:ln/>
        </p:spPr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2926080" y="32918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2C241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Démarrer l'essai gratuit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4114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jours gratuits — Sans engagement — Sans carte bancaire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8C3A3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6177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contact@teranga-pms.com</a:t>
            </a:r>
            <a:pPr algn="ctr" indent="0" marL="0">
              <a:buNone/>
            </a:pPr>
            <a:r>
              <a:rPr lang="en-US" sz="1100" dirty="0">
                <a:solidFill>
                  <a:srgbClr val="9C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algn="ctr"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+228 90 XX XX XX</a:t>
            </a:r>
            <a:pPr algn="ctr" indent="0" marL="0">
              <a:buNone/>
            </a:pPr>
            <a:r>
              <a:rPr lang="en-US" sz="1100" dirty="0">
                <a:solidFill>
                  <a:srgbClr val="9C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algn="ctr" indent="0" marL="0">
              <a:buNone/>
            </a:pPr>
            <a:r>
              <a:rPr lang="en-US" sz="1100" dirty="0">
                <a:solidFill>
                  <a:srgbClr val="D4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www.teranga-pms.com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Teranga — L'hospitalité connectée</dc:title>
  <dc:subject>PptxGenJS Presentation</dc:subject>
  <dc:creator>Teranga PMS</dc:creator>
  <cp:lastModifiedBy>Teranga PMS</cp:lastModifiedBy>
  <cp:revision>1</cp:revision>
  <dcterms:created xsi:type="dcterms:W3CDTF">2026-03-15T13:27:40Z</dcterms:created>
  <dcterms:modified xsi:type="dcterms:W3CDTF">2026-03-15T13:27:40Z</dcterms:modified>
</cp:coreProperties>
</file>